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253"/>
          </a:solidFill>
          <a:ln>
            <a:solidFill>
              <a:srgbClr val="192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0" cy="6858000"/>
          </a:xfrm>
          <a:prstGeom prst="rect">
            <a:avLst/>
          </a:prstGeom>
          <a:solidFill>
            <a:srgbClr val="323CAA"/>
          </a:solidFill>
          <a:ln>
            <a:solidFill>
              <a:srgbClr val="323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8720" y="0"/>
            <a:ext cx="320040" cy="6858000"/>
          </a:xfrm>
          <a:prstGeom prst="rect">
            <a:avLst/>
          </a:prstGeom>
          <a:solidFill>
            <a:srgbClr val="4853EE"/>
          </a:solidFill>
          <a:ln>
            <a:solidFill>
              <a:srgbClr val="485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66360" y="685800"/>
            <a:ext cx="1828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ptos"/>
              </a:rPr>
              <a:t>UPC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828800"/>
            <a:ext cx="813816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900" b="1">
                <a:solidFill>
                  <a:srgbClr val="FFFFFF"/>
                </a:solidFill>
                <a:latin typeface="Aptos"/>
              </a:rPr>
              <a:t>FUNDAMENTOS DE
PROGRAMACIÓN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3429000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DCE1FF"/>
                </a:solidFill>
                <a:latin typeface="Aptos"/>
              </a:rPr>
              <a:t>LIQUIDADOR DE HORAS EXTRAS AUTOMATIZADO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0" y="4297680"/>
            <a:ext cx="4389120" cy="438912"/>
          </a:xfrm>
          <a:prstGeom prst="roundRect">
            <a:avLst/>
          </a:prstGeom>
          <a:solidFill>
            <a:srgbClr val="4853EE"/>
          </a:solidFill>
          <a:ln>
            <a:solidFill>
              <a:srgbClr val="485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4334256"/>
            <a:ext cx="43891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TRABAJO FINAL - FP1 / GRUPO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3F9"/>
          </a:solidFill>
          <a:ln>
            <a:solidFill>
              <a:srgbClr val="F2F3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738360" y="0"/>
            <a:ext cx="2453335" cy="6858000"/>
          </a:xfrm>
          <a:prstGeom prst="rect">
            <a:avLst/>
          </a:prstGeom>
          <a:solidFill>
            <a:srgbClr val="192253"/>
          </a:solidFill>
          <a:ln>
            <a:solidFill>
              <a:srgbClr val="192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464040" y="0"/>
            <a:ext cx="274320" cy="6858000"/>
          </a:xfrm>
          <a:prstGeom prst="rect">
            <a:avLst/>
          </a:prstGeom>
          <a:solidFill>
            <a:srgbClr val="4853EE"/>
          </a:solidFill>
          <a:ln>
            <a:solidFill>
              <a:srgbClr val="485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0" cy="201168"/>
          </a:xfrm>
          <a:prstGeom prst="rect">
            <a:avLst/>
          </a:prstGeom>
          <a:solidFill>
            <a:srgbClr val="4853EE"/>
          </a:solidFill>
          <a:ln>
            <a:solidFill>
              <a:srgbClr val="485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01168"/>
            <a:ext cx="731520" cy="164592"/>
          </a:xfrm>
          <a:prstGeom prst="rect">
            <a:avLst/>
          </a:prstGeom>
          <a:solidFill>
            <a:srgbClr val="323CAA"/>
          </a:solidFill>
          <a:ln>
            <a:solidFill>
              <a:srgbClr val="323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914400" cy="347472"/>
          </a:xfrm>
          <a:prstGeom prst="rect">
            <a:avLst/>
          </a:prstGeom>
          <a:solidFill>
            <a:srgbClr val="4853EE"/>
          </a:solidFill>
          <a:ln>
            <a:solidFill>
              <a:srgbClr val="485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4360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92253"/>
                </a:solidFill>
                <a:latin typeface="Aptos"/>
              </a:rPr>
              <a:t>EPE | UPC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25880"/>
            <a:ext cx="8138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92253"/>
                </a:solidFill>
                <a:latin typeface="Aptos"/>
              </a:rPr>
              <a:t>CONTENIDO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80" y="5897880"/>
            <a:ext cx="1005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240280"/>
            <a:ext cx="5943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276856"/>
            <a:ext cx="5943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4853EE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28600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2755"/>
                </a:solidFill>
                <a:latin typeface="Aptos"/>
              </a:rPr>
              <a:t>EL PROBLEMA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2834640"/>
            <a:ext cx="5943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871216"/>
            <a:ext cx="5943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4853EE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288036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2755"/>
                </a:solidFill>
                <a:latin typeface="Aptos"/>
              </a:rPr>
              <a:t>OBJETIVO DEL PROYECTO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429000"/>
            <a:ext cx="5943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465576"/>
            <a:ext cx="5943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4853EE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47472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2755"/>
                </a:solidFill>
                <a:latin typeface="Aptos"/>
              </a:rPr>
              <a:t>ALTERNATIVAS EVALUADAS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023360"/>
            <a:ext cx="5943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059936"/>
            <a:ext cx="5943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4853EE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06908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2755"/>
                </a:solidFill>
                <a:latin typeface="Aptos"/>
              </a:rPr>
              <a:t>SOLUCIÓN ELEGIDA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617720"/>
            <a:ext cx="5943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654296"/>
            <a:ext cx="5943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4853EE"/>
                </a:solidFill>
                <a:latin typeface="Apto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466344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2755"/>
                </a:solidFill>
                <a:latin typeface="Aptos"/>
              </a:rPr>
              <a:t>DETALLE DEL PROCESO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40680" y="2240280"/>
            <a:ext cx="5943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40680" y="2276856"/>
            <a:ext cx="5943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4853EE"/>
                </a:solidFill>
                <a:latin typeface="Aptos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228600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2755"/>
                </a:solidFill>
                <a:latin typeface="Aptos"/>
              </a:rPr>
              <a:t>ALGORITMO (PSEUDOCÓDIGO)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40680" y="2834640"/>
            <a:ext cx="5943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40680" y="2871216"/>
            <a:ext cx="5943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4853EE"/>
                </a:solidFill>
                <a:latin typeface="Aptos"/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288036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2755"/>
                </a:solidFill>
                <a:latin typeface="Aptos"/>
              </a:rPr>
              <a:t>HERRAMIENTAS Y VERSIONES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40680" y="3429000"/>
            <a:ext cx="5943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40680" y="3465576"/>
            <a:ext cx="5943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4853EE"/>
                </a:solidFill>
                <a:latin typeface="Aptos"/>
              </a:rPr>
              <a:t>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200" y="347472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2755"/>
                </a:solidFill>
                <a:latin typeface="Aptos"/>
              </a:rPr>
              <a:t>DEMOSTRACIÓN EN VIVO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40680" y="4023360"/>
            <a:ext cx="5943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40680" y="4059936"/>
            <a:ext cx="5943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4853EE"/>
                </a:solidFill>
                <a:latin typeface="Aptos"/>
              </a:rPr>
              <a:t>09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72200" y="406908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2755"/>
                </a:solidFill>
                <a:latin typeface="Aptos"/>
              </a:rPr>
              <a:t>RESULTADOS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40680" y="4617720"/>
            <a:ext cx="59436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40680" y="4654296"/>
            <a:ext cx="5943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4853EE"/>
                </a:solidFill>
                <a:latin typeface="Aptos"/>
              </a:rPr>
              <a:t>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72200" y="466344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2755"/>
                </a:solidFill>
                <a:latin typeface="Aptos"/>
              </a:rPr>
              <a:t>CONCLUSIONES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3F9"/>
          </a:solidFill>
          <a:ln>
            <a:solidFill>
              <a:srgbClr val="F2F3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738360" y="0"/>
            <a:ext cx="2453335" cy="6858000"/>
          </a:xfrm>
          <a:prstGeom prst="rect">
            <a:avLst/>
          </a:prstGeom>
          <a:solidFill>
            <a:srgbClr val="192253"/>
          </a:solidFill>
          <a:ln>
            <a:solidFill>
              <a:srgbClr val="192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464040" y="0"/>
            <a:ext cx="274320" cy="6858000"/>
          </a:xfrm>
          <a:prstGeom prst="rect">
            <a:avLst/>
          </a:prstGeom>
          <a:solidFill>
            <a:srgbClr val="4853EE"/>
          </a:solidFill>
          <a:ln>
            <a:solidFill>
              <a:srgbClr val="485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0" cy="201168"/>
          </a:xfrm>
          <a:prstGeom prst="rect">
            <a:avLst/>
          </a:prstGeom>
          <a:solidFill>
            <a:srgbClr val="4853EE"/>
          </a:solidFill>
          <a:ln>
            <a:solidFill>
              <a:srgbClr val="485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01168"/>
            <a:ext cx="731520" cy="164592"/>
          </a:xfrm>
          <a:prstGeom prst="rect">
            <a:avLst/>
          </a:prstGeom>
          <a:solidFill>
            <a:srgbClr val="323CAA"/>
          </a:solidFill>
          <a:ln>
            <a:solidFill>
              <a:srgbClr val="323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914400" cy="347472"/>
          </a:xfrm>
          <a:prstGeom prst="rect">
            <a:avLst/>
          </a:prstGeom>
          <a:solidFill>
            <a:srgbClr val="4853EE"/>
          </a:solidFill>
          <a:ln>
            <a:solidFill>
              <a:srgbClr val="485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4360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92253"/>
                </a:solidFill>
                <a:latin typeface="Aptos"/>
              </a:rPr>
              <a:t>EPE | UPC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25880"/>
            <a:ext cx="8138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92253"/>
                </a:solidFill>
                <a:latin typeface="Aptos"/>
              </a:rPr>
              <a:t>EL PROBLEMA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80" y="5897880"/>
            <a:ext cx="1005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40280"/>
            <a:ext cx="7132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900">
                <a:solidFill>
                  <a:srgbClr val="1F2755"/>
                </a:solidFill>
                <a:latin typeface="Aptos"/>
              </a:defRPr>
            </a:pPr>
            <a:r>
              <a:t>• El pago semanal de horas extra se calcula manualmente.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900">
                <a:solidFill>
                  <a:srgbClr val="1F2755"/>
                </a:solidFill>
                <a:latin typeface="Aptos"/>
              </a:defRPr>
            </a:pPr>
            <a:r>
              <a:t>• El supervisor utiliza una calculadora básica y apuntes físicos.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900">
                <a:solidFill>
                  <a:srgbClr val="1F2755"/>
                </a:solidFill>
                <a:latin typeface="Aptos"/>
              </a:defRPr>
            </a:pPr>
            <a:r>
              <a:t>• El recargo escalonado de 25% y 35% genera errores de cálculo y redondeo.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900">
                <a:solidFill>
                  <a:srgbClr val="1F2755"/>
                </a:solidFill>
                <a:latin typeface="Aptos"/>
              </a:defRPr>
            </a:pPr>
            <a:r>
              <a:t>• La consecuencia son reclamos, reprocesos y riesgo ante una fiscalización de SUNAFIL.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920240"/>
            <a:ext cx="11430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0768" y="2240280"/>
            <a:ext cx="731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800" b="1">
                <a:solidFill>
                  <a:srgbClr val="F49738"/>
                </a:solidFill>
                <a:latin typeface="Aptos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291840"/>
            <a:ext cx="9601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92253"/>
                </a:solidFill>
                <a:latin typeface="Aptos"/>
              </a:rPr>
              <a:t>Cálculo
manual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3F9"/>
          </a:solidFill>
          <a:ln>
            <a:solidFill>
              <a:srgbClr val="F2F3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738360" y="0"/>
            <a:ext cx="2453335" cy="6858000"/>
          </a:xfrm>
          <a:prstGeom prst="rect">
            <a:avLst/>
          </a:prstGeom>
          <a:solidFill>
            <a:srgbClr val="192253"/>
          </a:solidFill>
          <a:ln>
            <a:solidFill>
              <a:srgbClr val="192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464040" y="0"/>
            <a:ext cx="274320" cy="6858000"/>
          </a:xfrm>
          <a:prstGeom prst="rect">
            <a:avLst/>
          </a:prstGeom>
          <a:solidFill>
            <a:srgbClr val="4853EE"/>
          </a:solidFill>
          <a:ln>
            <a:solidFill>
              <a:srgbClr val="485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0" cy="201168"/>
          </a:xfrm>
          <a:prstGeom prst="rect">
            <a:avLst/>
          </a:prstGeom>
          <a:solidFill>
            <a:srgbClr val="4853EE"/>
          </a:solidFill>
          <a:ln>
            <a:solidFill>
              <a:srgbClr val="485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01168"/>
            <a:ext cx="731520" cy="164592"/>
          </a:xfrm>
          <a:prstGeom prst="rect">
            <a:avLst/>
          </a:prstGeom>
          <a:solidFill>
            <a:srgbClr val="323CAA"/>
          </a:solidFill>
          <a:ln>
            <a:solidFill>
              <a:srgbClr val="323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914400" cy="347472"/>
          </a:xfrm>
          <a:prstGeom prst="rect">
            <a:avLst/>
          </a:prstGeom>
          <a:solidFill>
            <a:srgbClr val="4853EE"/>
          </a:solidFill>
          <a:ln>
            <a:solidFill>
              <a:srgbClr val="485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4360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92253"/>
                </a:solidFill>
                <a:latin typeface="Aptos"/>
              </a:rPr>
              <a:t>EPE | UPC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25880"/>
            <a:ext cx="8138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92253"/>
                </a:solidFill>
                <a:latin typeface="Aptos"/>
              </a:rPr>
              <a:t>OBJETIVO DEL PROYECTO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80" y="5897880"/>
            <a:ext cx="1005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14884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4853EE"/>
                </a:solidFill>
                <a:latin typeface="Aptos"/>
              </a:rPr>
              <a:t>Objetivo general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606040"/>
            <a:ext cx="7772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F2755"/>
                </a:solidFill>
                <a:latin typeface="Aptos"/>
              </a:rPr>
              <a:t>Automatizar el cálculo de horas extra aplicando el recargo de ley (25%/35%) para reducir errores manuales.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70332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4853EE"/>
                </a:solidFill>
                <a:latin typeface="Aptos"/>
              </a:rPr>
              <a:t>Objetivos específicos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60520"/>
            <a:ext cx="6583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900">
                <a:solidFill>
                  <a:srgbClr val="1F2755"/>
                </a:solidFill>
                <a:latin typeface="Aptos"/>
              </a:defRPr>
            </a:pPr>
            <a:r>
              <a:t>• Validar los datos numéricos ingresados.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900">
                <a:solidFill>
                  <a:srgbClr val="1F2755"/>
                </a:solidFill>
                <a:latin typeface="Aptos"/>
              </a:defRPr>
            </a:pPr>
            <a:r>
              <a:t>• Calcular el recargo escalonado.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900">
                <a:solidFill>
                  <a:srgbClr val="1F2755"/>
                </a:solidFill>
                <a:latin typeface="Aptos"/>
              </a:defRPr>
            </a:pPr>
            <a:r>
              <a:t>• Generar un reporte consolidado.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240280"/>
            <a:ext cx="960120" cy="777240"/>
          </a:xfrm>
          <a:prstGeom prst="roundRect">
            <a:avLst/>
          </a:prstGeom>
          <a:solidFill>
            <a:srgbClr val="25AB7D"/>
          </a:solidFill>
          <a:ln>
            <a:solidFill>
              <a:srgbClr val="25A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7" y="2286000"/>
            <a:ext cx="731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3337560"/>
            <a:ext cx="960120" cy="777240"/>
          </a:xfrm>
          <a:prstGeom prst="roundRect">
            <a:avLst/>
          </a:prstGeom>
          <a:solidFill>
            <a:srgbClr val="25AB7D"/>
          </a:solidFill>
          <a:ln>
            <a:solidFill>
              <a:srgbClr val="25A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7" y="3383279"/>
            <a:ext cx="731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4434840"/>
            <a:ext cx="960120" cy="777240"/>
          </a:xfrm>
          <a:prstGeom prst="roundRect">
            <a:avLst/>
          </a:prstGeom>
          <a:solidFill>
            <a:srgbClr val="25AB7D"/>
          </a:solidFill>
          <a:ln>
            <a:solidFill>
              <a:srgbClr val="25A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7" y="4480559"/>
            <a:ext cx="731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3F9"/>
          </a:solidFill>
          <a:ln>
            <a:solidFill>
              <a:srgbClr val="F2F3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738360" y="0"/>
            <a:ext cx="2453335" cy="6858000"/>
          </a:xfrm>
          <a:prstGeom prst="rect">
            <a:avLst/>
          </a:prstGeom>
          <a:solidFill>
            <a:srgbClr val="192253"/>
          </a:solidFill>
          <a:ln>
            <a:solidFill>
              <a:srgbClr val="192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464040" y="0"/>
            <a:ext cx="274320" cy="6858000"/>
          </a:xfrm>
          <a:prstGeom prst="rect">
            <a:avLst/>
          </a:prstGeom>
          <a:solidFill>
            <a:srgbClr val="4853EE"/>
          </a:solidFill>
          <a:ln>
            <a:solidFill>
              <a:srgbClr val="485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0" cy="201168"/>
          </a:xfrm>
          <a:prstGeom prst="rect">
            <a:avLst/>
          </a:prstGeom>
          <a:solidFill>
            <a:srgbClr val="4853EE"/>
          </a:solidFill>
          <a:ln>
            <a:solidFill>
              <a:srgbClr val="485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01168"/>
            <a:ext cx="731520" cy="164592"/>
          </a:xfrm>
          <a:prstGeom prst="rect">
            <a:avLst/>
          </a:prstGeom>
          <a:solidFill>
            <a:srgbClr val="323CAA"/>
          </a:solidFill>
          <a:ln>
            <a:solidFill>
              <a:srgbClr val="323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914400" cy="347472"/>
          </a:xfrm>
          <a:prstGeom prst="rect">
            <a:avLst/>
          </a:prstGeom>
          <a:solidFill>
            <a:srgbClr val="4853EE"/>
          </a:solidFill>
          <a:ln>
            <a:solidFill>
              <a:srgbClr val="485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4360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92253"/>
                </a:solidFill>
                <a:latin typeface="Aptos"/>
              </a:rPr>
              <a:t>EPE | UPC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25880"/>
            <a:ext cx="8138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92253"/>
                </a:solidFill>
                <a:latin typeface="Aptos"/>
              </a:rPr>
              <a:t>ALTERNATIVAS EVALUADAS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80" y="5897880"/>
            <a:ext cx="1005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057400"/>
            <a:ext cx="7955279" cy="960120"/>
          </a:xfrm>
          <a:prstGeom prst="roundRect">
            <a:avLst/>
          </a:prstGeom>
          <a:solidFill>
            <a:srgbClr val="DCE1FF"/>
          </a:solidFill>
          <a:ln>
            <a:solidFill>
              <a:srgbClr val="DC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185416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92253"/>
                </a:solidFill>
                <a:latin typeface="Aptos"/>
              </a:rPr>
              <a:t>Software empresarial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185416"/>
            <a:ext cx="5212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B617F"/>
                </a:solidFill>
                <a:latin typeface="Aptos"/>
              </a:rPr>
              <a:t>Licenciamiento elevado y curva de aprendizaje.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6840" y="2103120"/>
            <a:ext cx="502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100" b="1">
                <a:solidFill>
                  <a:srgbClr val="F49738"/>
                </a:solidFill>
                <a:latin typeface="Aptos"/>
              </a:rPr>
              <a:t>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291840"/>
            <a:ext cx="7955279" cy="960120"/>
          </a:xfrm>
          <a:prstGeom prst="roundRect">
            <a:avLst/>
          </a:prstGeom>
          <a:solidFill>
            <a:srgbClr val="DCE1FF"/>
          </a:solidFill>
          <a:ln>
            <a:solidFill>
              <a:srgbClr val="DC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419856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92253"/>
                </a:solidFill>
                <a:latin typeface="Aptos"/>
              </a:rPr>
              <a:t>Plantillas en Excel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3419856"/>
            <a:ext cx="5212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B617F"/>
                </a:solidFill>
                <a:latin typeface="Aptos"/>
              </a:rPr>
              <a:t>Fórmulas frágiles y riesgo de modificaciones accidentales.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3337560"/>
            <a:ext cx="502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100" b="1">
                <a:solidFill>
                  <a:srgbClr val="F49738"/>
                </a:solidFill>
                <a:latin typeface="Aptos"/>
              </a:rPr>
              <a:t>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526280"/>
            <a:ext cx="7955279" cy="960120"/>
          </a:xfrm>
          <a:prstGeom prst="roundRect">
            <a:avLst/>
          </a:prstGeom>
          <a:solidFill>
            <a:srgbClr val="DAF6EB"/>
          </a:solidFill>
          <a:ln>
            <a:solidFill>
              <a:srgbClr val="DAF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654296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92253"/>
                </a:solidFill>
                <a:latin typeface="Aptos"/>
              </a:rPr>
              <a:t>Programa en Python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4654296"/>
            <a:ext cx="5212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B617F"/>
                </a:solidFill>
                <a:latin typeface="Aptos"/>
              </a:rPr>
              <a:t>Sin costo de licencia, simple, mantenible e iterativo.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4572000"/>
            <a:ext cx="502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100" b="1">
                <a:solidFill>
                  <a:srgbClr val="25AB7D"/>
                </a:solidFill>
                <a:latin typeface="Aptos"/>
              </a:rPr>
              <a:t>✓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3F9"/>
          </a:solidFill>
          <a:ln>
            <a:solidFill>
              <a:srgbClr val="F2F3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738360" y="0"/>
            <a:ext cx="2453335" cy="6858000"/>
          </a:xfrm>
          <a:prstGeom prst="rect">
            <a:avLst/>
          </a:prstGeom>
          <a:solidFill>
            <a:srgbClr val="192253"/>
          </a:solidFill>
          <a:ln>
            <a:solidFill>
              <a:srgbClr val="192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464040" y="0"/>
            <a:ext cx="274320" cy="6858000"/>
          </a:xfrm>
          <a:prstGeom prst="rect">
            <a:avLst/>
          </a:prstGeom>
          <a:solidFill>
            <a:srgbClr val="4853EE"/>
          </a:solidFill>
          <a:ln>
            <a:solidFill>
              <a:srgbClr val="485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0" cy="201168"/>
          </a:xfrm>
          <a:prstGeom prst="rect">
            <a:avLst/>
          </a:prstGeom>
          <a:solidFill>
            <a:srgbClr val="4853EE"/>
          </a:solidFill>
          <a:ln>
            <a:solidFill>
              <a:srgbClr val="485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01168"/>
            <a:ext cx="731520" cy="164592"/>
          </a:xfrm>
          <a:prstGeom prst="rect">
            <a:avLst/>
          </a:prstGeom>
          <a:solidFill>
            <a:srgbClr val="323CAA"/>
          </a:solidFill>
          <a:ln>
            <a:solidFill>
              <a:srgbClr val="323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914400" cy="347472"/>
          </a:xfrm>
          <a:prstGeom prst="rect">
            <a:avLst/>
          </a:prstGeom>
          <a:solidFill>
            <a:srgbClr val="4853EE"/>
          </a:solidFill>
          <a:ln>
            <a:solidFill>
              <a:srgbClr val="485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4360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92253"/>
                </a:solidFill>
                <a:latin typeface="Aptos"/>
              </a:rPr>
              <a:t>EPE | UPC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25880"/>
            <a:ext cx="8138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92253"/>
                </a:solidFill>
                <a:latin typeface="Aptos"/>
              </a:rPr>
              <a:t>SOLUCIÓN ELEGIDA: ARQUITECTURA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80" y="5897880"/>
            <a:ext cx="1005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057400"/>
            <a:ext cx="7223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5B617F"/>
                </a:solidFill>
                <a:latin typeface="Aptos"/>
              </a:rPr>
              <a:t>Programa de consola organizado en 5 bloques lógicos: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880360"/>
            <a:ext cx="16916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2990088"/>
            <a:ext cx="1472184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92253"/>
                </a:solidFill>
                <a:latin typeface="Aptos"/>
              </a:rPr>
              <a:t>1. Ingreso y bucle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0360" y="2880360"/>
            <a:ext cx="16916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90088" y="2990088"/>
            <a:ext cx="1472184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92253"/>
                </a:solidFill>
                <a:latin typeface="Aptos"/>
              </a:rPr>
              <a:t>2. Validación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46320" y="2880360"/>
            <a:ext cx="16916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56048" y="2990088"/>
            <a:ext cx="1472184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92253"/>
                </a:solidFill>
                <a:latin typeface="Aptos"/>
              </a:rPr>
              <a:t>3. Motor de cálculo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12280" y="2880360"/>
            <a:ext cx="16916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22008" y="2990088"/>
            <a:ext cx="1472184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92253"/>
                </a:solidFill>
                <a:latin typeface="Aptos"/>
              </a:rPr>
              <a:t>4. Arreglo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46320" y="4251960"/>
            <a:ext cx="16916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56048" y="4361688"/>
            <a:ext cx="1472184" cy="5943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92253"/>
                </a:solidFill>
                <a:latin typeface="Aptos"/>
              </a:rPr>
              <a:t>5. Reporte final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606040" y="3246120"/>
            <a:ext cx="274320" cy="0"/>
          </a:xfrm>
          <a:prstGeom prst="line">
            <a:avLst/>
          </a:prstGeom>
          <a:ln w="31750">
            <a:solidFill>
              <a:srgbClr val="485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572000" y="3246120"/>
            <a:ext cx="274320" cy="0"/>
          </a:xfrm>
          <a:prstGeom prst="line">
            <a:avLst/>
          </a:prstGeom>
          <a:ln w="31750">
            <a:solidFill>
              <a:srgbClr val="485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537960" y="3246120"/>
            <a:ext cx="274320" cy="0"/>
          </a:xfrm>
          <a:prstGeom prst="line">
            <a:avLst/>
          </a:prstGeom>
          <a:ln w="31750">
            <a:solidFill>
              <a:srgbClr val="485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5760720" y="3657600"/>
            <a:ext cx="1874520" cy="594360"/>
          </a:xfrm>
          <a:prstGeom prst="line">
            <a:avLst/>
          </a:prstGeom>
          <a:ln w="31750">
            <a:solidFill>
              <a:srgbClr val="485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3F9"/>
          </a:solidFill>
          <a:ln>
            <a:solidFill>
              <a:srgbClr val="F2F3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738360" y="0"/>
            <a:ext cx="2453335" cy="6858000"/>
          </a:xfrm>
          <a:prstGeom prst="rect">
            <a:avLst/>
          </a:prstGeom>
          <a:solidFill>
            <a:srgbClr val="192253"/>
          </a:solidFill>
          <a:ln>
            <a:solidFill>
              <a:srgbClr val="192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464040" y="0"/>
            <a:ext cx="274320" cy="6858000"/>
          </a:xfrm>
          <a:prstGeom prst="rect">
            <a:avLst/>
          </a:prstGeom>
          <a:solidFill>
            <a:srgbClr val="4853EE"/>
          </a:solidFill>
          <a:ln>
            <a:solidFill>
              <a:srgbClr val="485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0" cy="201168"/>
          </a:xfrm>
          <a:prstGeom prst="rect">
            <a:avLst/>
          </a:prstGeom>
          <a:solidFill>
            <a:srgbClr val="4853EE"/>
          </a:solidFill>
          <a:ln>
            <a:solidFill>
              <a:srgbClr val="485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01168"/>
            <a:ext cx="731520" cy="164592"/>
          </a:xfrm>
          <a:prstGeom prst="rect">
            <a:avLst/>
          </a:prstGeom>
          <a:solidFill>
            <a:srgbClr val="323CAA"/>
          </a:solidFill>
          <a:ln>
            <a:solidFill>
              <a:srgbClr val="323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914400" cy="347472"/>
          </a:xfrm>
          <a:prstGeom prst="rect">
            <a:avLst/>
          </a:prstGeom>
          <a:solidFill>
            <a:srgbClr val="4853EE"/>
          </a:solidFill>
          <a:ln>
            <a:solidFill>
              <a:srgbClr val="485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4360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92253"/>
                </a:solidFill>
                <a:latin typeface="Aptos"/>
              </a:rPr>
              <a:t>EPE | UPC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25880"/>
            <a:ext cx="8138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92253"/>
                </a:solidFill>
                <a:latin typeface="Aptos"/>
              </a:rPr>
              <a:t>DETALLE DEL PROCESO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80" y="5897880"/>
            <a:ext cx="1005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468880"/>
            <a:ext cx="2560320" cy="1234440"/>
          </a:xfrm>
          <a:prstGeom prst="roundRect">
            <a:avLst/>
          </a:prstGeom>
          <a:solidFill>
            <a:srgbClr val="DCE1FF"/>
          </a:solidFill>
          <a:ln>
            <a:solidFill>
              <a:srgbClr val="DC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578608"/>
            <a:ext cx="2340863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92253"/>
                </a:solidFill>
                <a:latin typeface="Aptos"/>
              </a:rPr>
              <a:t>ENTRADAS
Cantidad, nombre, sueldo/hora y horas extra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86200" y="2468880"/>
            <a:ext cx="25603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95928" y="2578608"/>
            <a:ext cx="2340863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92253"/>
                </a:solidFill>
                <a:latin typeface="Aptos"/>
              </a:rPr>
              <a:t>PROCESO
Validar, calcular y almacenar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2468880"/>
            <a:ext cx="2560320" cy="1234440"/>
          </a:xfrm>
          <a:prstGeom prst="roundRect">
            <a:avLst/>
          </a:prstGeom>
          <a:solidFill>
            <a:srgbClr val="DAF6EB"/>
          </a:solidFill>
          <a:ln>
            <a:solidFill>
              <a:srgbClr val="DC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59168" y="2578608"/>
            <a:ext cx="2340863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92253"/>
                </a:solidFill>
                <a:latin typeface="Aptos"/>
              </a:rPr>
              <a:t>SALIDAS
Pago individual y total a depositar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383280" y="3090672"/>
            <a:ext cx="502920" cy="0"/>
          </a:xfrm>
          <a:prstGeom prst="line">
            <a:avLst/>
          </a:prstGeom>
          <a:ln w="38100">
            <a:solidFill>
              <a:srgbClr val="485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446520" y="3090672"/>
            <a:ext cx="502920" cy="0"/>
          </a:xfrm>
          <a:prstGeom prst="line">
            <a:avLst/>
          </a:prstGeom>
          <a:ln w="38100">
            <a:solidFill>
              <a:srgbClr val="485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234440" y="4343400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192253"/>
                </a:solidFill>
                <a:latin typeface="Aptos"/>
              </a:rPr>
              <a:t>El mismo flujo se repite automáticamente por cada técnico ingresado.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3F9"/>
          </a:solidFill>
          <a:ln>
            <a:solidFill>
              <a:srgbClr val="F2F3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738360" y="0"/>
            <a:ext cx="2453335" cy="6858000"/>
          </a:xfrm>
          <a:prstGeom prst="rect">
            <a:avLst/>
          </a:prstGeom>
          <a:solidFill>
            <a:srgbClr val="192253"/>
          </a:solidFill>
          <a:ln>
            <a:solidFill>
              <a:srgbClr val="192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464040" y="0"/>
            <a:ext cx="274320" cy="6858000"/>
          </a:xfrm>
          <a:prstGeom prst="rect">
            <a:avLst/>
          </a:prstGeom>
          <a:solidFill>
            <a:srgbClr val="4853EE"/>
          </a:solidFill>
          <a:ln>
            <a:solidFill>
              <a:srgbClr val="485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0" cy="201168"/>
          </a:xfrm>
          <a:prstGeom prst="rect">
            <a:avLst/>
          </a:prstGeom>
          <a:solidFill>
            <a:srgbClr val="4853EE"/>
          </a:solidFill>
          <a:ln>
            <a:solidFill>
              <a:srgbClr val="485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01168"/>
            <a:ext cx="731520" cy="164592"/>
          </a:xfrm>
          <a:prstGeom prst="rect">
            <a:avLst/>
          </a:prstGeom>
          <a:solidFill>
            <a:srgbClr val="323CAA"/>
          </a:solidFill>
          <a:ln>
            <a:solidFill>
              <a:srgbClr val="323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914400" cy="347472"/>
          </a:xfrm>
          <a:prstGeom prst="rect">
            <a:avLst/>
          </a:prstGeom>
          <a:solidFill>
            <a:srgbClr val="4853EE"/>
          </a:solidFill>
          <a:ln>
            <a:solidFill>
              <a:srgbClr val="485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4360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92253"/>
                </a:solidFill>
                <a:latin typeface="Aptos"/>
              </a:rPr>
              <a:t>EPE | UPC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25880"/>
            <a:ext cx="8138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92253"/>
                </a:solidFill>
                <a:latin typeface="Aptos"/>
              </a:rPr>
              <a:t>ALGORITMO (PSEUDOCÓDIGO)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80" y="5897880"/>
            <a:ext cx="1005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08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011680"/>
            <a:ext cx="8138160" cy="3474720"/>
          </a:xfrm>
          <a:prstGeom prst="roundRect">
            <a:avLst/>
          </a:prstGeom>
          <a:solidFill>
            <a:srgbClr val="181B26"/>
          </a:solidFill>
          <a:ln>
            <a:solidFill>
              <a:srgbClr val="181B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2240280"/>
            <a:ext cx="75895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E1E8FF"/>
                </a:solidFill>
                <a:latin typeface="Courier New"/>
              </a:rPr>
              <a:t>1. Leer cantidad de técnicos
2. Repetir por cada técnico
3. Validar nombre, sueldo y horas
4. Si horas_extra &lt;= 2:
      pago = horas_extra × sueldo_hora × 1.25
5. Si no:
      pago = 2 × sueldo_hora × 1.25
             + (horas_extra - 2) × sueldo_hora × 1.35
6. Guardar resultado y generar reporte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5669280"/>
            <a:ext cx="5212080" cy="438912"/>
          </a:xfrm>
          <a:prstGeom prst="roundRect">
            <a:avLst/>
          </a:prstGeom>
          <a:solidFill>
            <a:srgbClr val="25AB7D"/>
          </a:solidFill>
          <a:ln>
            <a:solidFill>
              <a:srgbClr val="25AB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5705856"/>
            <a:ext cx="5212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EJEMPLO: 3 h a S/15.50 = S/59.68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3F9"/>
          </a:solidFill>
          <a:ln>
            <a:solidFill>
              <a:srgbClr val="F2F3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738360" y="0"/>
            <a:ext cx="2453335" cy="6858000"/>
          </a:xfrm>
          <a:prstGeom prst="rect">
            <a:avLst/>
          </a:prstGeom>
          <a:solidFill>
            <a:srgbClr val="192253"/>
          </a:solidFill>
          <a:ln>
            <a:solidFill>
              <a:srgbClr val="192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464040" y="0"/>
            <a:ext cx="274320" cy="6858000"/>
          </a:xfrm>
          <a:prstGeom prst="rect">
            <a:avLst/>
          </a:prstGeom>
          <a:solidFill>
            <a:srgbClr val="4853EE"/>
          </a:solidFill>
          <a:ln>
            <a:solidFill>
              <a:srgbClr val="485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0" cy="201168"/>
          </a:xfrm>
          <a:prstGeom prst="rect">
            <a:avLst/>
          </a:prstGeom>
          <a:solidFill>
            <a:srgbClr val="4853EE"/>
          </a:solidFill>
          <a:ln>
            <a:solidFill>
              <a:srgbClr val="485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01168"/>
            <a:ext cx="731520" cy="164592"/>
          </a:xfrm>
          <a:prstGeom prst="rect">
            <a:avLst/>
          </a:prstGeom>
          <a:solidFill>
            <a:srgbClr val="323CAA"/>
          </a:solidFill>
          <a:ln>
            <a:solidFill>
              <a:srgbClr val="323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914400" cy="347472"/>
          </a:xfrm>
          <a:prstGeom prst="rect">
            <a:avLst/>
          </a:prstGeom>
          <a:solidFill>
            <a:srgbClr val="4853EE"/>
          </a:solidFill>
          <a:ln>
            <a:solidFill>
              <a:srgbClr val="485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4360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92253"/>
                </a:solidFill>
                <a:latin typeface="Aptos"/>
              </a:rPr>
              <a:t>EPE | UPC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25880"/>
            <a:ext cx="8138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92253"/>
                </a:solidFill>
                <a:latin typeface="Aptos"/>
              </a:rPr>
              <a:t>HERRAMIENTAS Y CONTROL DE VERSIONES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80" y="5897880"/>
            <a:ext cx="1005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09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057400"/>
            <a:ext cx="81381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51560" y="2286000"/>
            <a:ext cx="1920240" cy="438912"/>
          </a:xfrm>
          <a:prstGeom prst="roundRect">
            <a:avLst/>
          </a:prstGeom>
          <a:solidFill>
            <a:srgbClr val="4853EE"/>
          </a:solidFill>
          <a:ln>
            <a:solidFill>
              <a:srgbClr val="485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322576"/>
            <a:ext cx="19202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PYTHON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2276856"/>
            <a:ext cx="5394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F2755"/>
                </a:solidFill>
                <a:latin typeface="Aptos"/>
              </a:rPr>
              <a:t>Lógica, validaciones y cálculo monetario.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291840"/>
            <a:ext cx="81381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51560" y="3520440"/>
            <a:ext cx="1920240" cy="438912"/>
          </a:xfrm>
          <a:prstGeom prst="roundRect">
            <a:avLst/>
          </a:prstGeom>
          <a:solidFill>
            <a:srgbClr val="0079BF"/>
          </a:solidFill>
          <a:ln>
            <a:solidFill>
              <a:srgbClr val="0079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557016"/>
            <a:ext cx="19202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TRELLO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3511296"/>
            <a:ext cx="5394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F2755"/>
                </a:solidFill>
                <a:latin typeface="Aptos"/>
              </a:rPr>
              <a:t>Gestión del trabajo mediante Kanban e historias de usuario.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526280"/>
            <a:ext cx="81381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51560" y="4754880"/>
            <a:ext cx="1920240" cy="438912"/>
          </a:xfrm>
          <a:prstGeom prst="roundRect">
            <a:avLst/>
          </a:prstGeom>
          <a:solidFill>
            <a:srgbClr val="4853EE"/>
          </a:solidFill>
          <a:ln>
            <a:solidFill>
              <a:srgbClr val="485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791456"/>
            <a:ext cx="19202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GIT / GITHUB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4745736"/>
            <a:ext cx="5394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1F2755"/>
                </a:solidFill>
                <a:latin typeface="Aptos"/>
              </a:rPr>
              <a:t>Historial de versiones: estructura, lógica, validación y entrega final.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3F9"/>
          </a:solidFill>
          <a:ln>
            <a:solidFill>
              <a:srgbClr val="F2F3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738360" y="0"/>
            <a:ext cx="2453335" cy="6858000"/>
          </a:xfrm>
          <a:prstGeom prst="rect">
            <a:avLst/>
          </a:prstGeom>
          <a:solidFill>
            <a:srgbClr val="192253"/>
          </a:solidFill>
          <a:ln>
            <a:solidFill>
              <a:srgbClr val="192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464040" y="0"/>
            <a:ext cx="274320" cy="6858000"/>
          </a:xfrm>
          <a:prstGeom prst="rect">
            <a:avLst/>
          </a:prstGeom>
          <a:solidFill>
            <a:srgbClr val="4853EE"/>
          </a:solidFill>
          <a:ln>
            <a:solidFill>
              <a:srgbClr val="485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0" cy="201168"/>
          </a:xfrm>
          <a:prstGeom prst="rect">
            <a:avLst/>
          </a:prstGeom>
          <a:solidFill>
            <a:srgbClr val="4853EE"/>
          </a:solidFill>
          <a:ln>
            <a:solidFill>
              <a:srgbClr val="485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01168"/>
            <a:ext cx="731520" cy="164592"/>
          </a:xfrm>
          <a:prstGeom prst="rect">
            <a:avLst/>
          </a:prstGeom>
          <a:solidFill>
            <a:srgbClr val="323CAA"/>
          </a:solidFill>
          <a:ln>
            <a:solidFill>
              <a:srgbClr val="323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914400" cy="347472"/>
          </a:xfrm>
          <a:prstGeom prst="rect">
            <a:avLst/>
          </a:prstGeom>
          <a:solidFill>
            <a:srgbClr val="4853EE"/>
          </a:solidFill>
          <a:ln>
            <a:solidFill>
              <a:srgbClr val="485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4360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92253"/>
                </a:solidFill>
                <a:latin typeface="Aptos"/>
              </a:rPr>
              <a:t>EPE | UPC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25880"/>
            <a:ext cx="8138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92253"/>
                </a:solidFill>
                <a:latin typeface="Aptos"/>
              </a:rPr>
              <a:t>DEMOSTRACIÓN EN VIVO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80" y="5897880"/>
            <a:ext cx="1005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57400"/>
            <a:ext cx="7772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192253"/>
                </a:solidFill>
                <a:latin typeface="Aptos"/>
              </a:rPr>
              <a:t>A continuación, ejecutaremos el programa con tres casos de prueba.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2880360"/>
            <a:ext cx="1097280" cy="438912"/>
          </a:xfrm>
          <a:prstGeom prst="roundRect">
            <a:avLst/>
          </a:prstGeom>
          <a:solidFill>
            <a:srgbClr val="4853EE"/>
          </a:solidFill>
          <a:ln>
            <a:solidFill>
              <a:srgbClr val="485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916936"/>
            <a:ext cx="1097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Caso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2944368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F2755"/>
                </a:solidFill>
                <a:latin typeface="Aptos"/>
              </a:rPr>
              <a:t>3 h extra: supera el límite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3657600"/>
            <a:ext cx="1097280" cy="438912"/>
          </a:xfrm>
          <a:prstGeom prst="roundRect">
            <a:avLst/>
          </a:prstGeom>
          <a:solidFill>
            <a:srgbClr val="4853EE"/>
          </a:solidFill>
          <a:ln>
            <a:solidFill>
              <a:srgbClr val="485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694176"/>
            <a:ext cx="1097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Caso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3721608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F2755"/>
                </a:solidFill>
                <a:latin typeface="Aptos"/>
              </a:rPr>
              <a:t>1.5 h extra: no supera el límite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" y="4434840"/>
            <a:ext cx="1097280" cy="438912"/>
          </a:xfrm>
          <a:prstGeom prst="roundRect">
            <a:avLst/>
          </a:prstGeom>
          <a:solidFill>
            <a:srgbClr val="4853EE"/>
          </a:solidFill>
          <a:ln>
            <a:solidFill>
              <a:srgbClr val="485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471416"/>
            <a:ext cx="1097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Caso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4498848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F2755"/>
                </a:solidFill>
                <a:latin typeface="Aptos"/>
              </a:rPr>
              <a:t>5 h extra: aplica ambos recargos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2240280"/>
            <a:ext cx="1051560" cy="3154680"/>
          </a:xfrm>
          <a:prstGeom prst="roundRect">
            <a:avLst/>
          </a:prstGeom>
          <a:solidFill>
            <a:srgbClr val="181B26"/>
          </a:solidFill>
          <a:ln>
            <a:solidFill>
              <a:srgbClr val="181B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74736" y="3246120"/>
            <a:ext cx="822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100" b="1">
                <a:solidFill>
                  <a:srgbClr val="25AB7D"/>
                </a:solidFill>
                <a:latin typeface="Aptos"/>
              </a:rPr>
              <a:t>&gt;_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3F9"/>
          </a:solidFill>
          <a:ln>
            <a:solidFill>
              <a:srgbClr val="F2F3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738360" y="0"/>
            <a:ext cx="2453335" cy="6858000"/>
          </a:xfrm>
          <a:prstGeom prst="rect">
            <a:avLst/>
          </a:prstGeom>
          <a:solidFill>
            <a:srgbClr val="192253"/>
          </a:solidFill>
          <a:ln>
            <a:solidFill>
              <a:srgbClr val="192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464040" y="0"/>
            <a:ext cx="274320" cy="6858000"/>
          </a:xfrm>
          <a:prstGeom prst="rect">
            <a:avLst/>
          </a:prstGeom>
          <a:solidFill>
            <a:srgbClr val="4853EE"/>
          </a:solidFill>
          <a:ln>
            <a:solidFill>
              <a:srgbClr val="485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0" cy="201168"/>
          </a:xfrm>
          <a:prstGeom prst="rect">
            <a:avLst/>
          </a:prstGeom>
          <a:solidFill>
            <a:srgbClr val="4853EE"/>
          </a:solidFill>
          <a:ln>
            <a:solidFill>
              <a:srgbClr val="485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01168"/>
            <a:ext cx="731520" cy="164592"/>
          </a:xfrm>
          <a:prstGeom prst="rect">
            <a:avLst/>
          </a:prstGeom>
          <a:solidFill>
            <a:srgbClr val="323CAA"/>
          </a:solidFill>
          <a:ln>
            <a:solidFill>
              <a:srgbClr val="323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914400" cy="347472"/>
          </a:xfrm>
          <a:prstGeom prst="rect">
            <a:avLst/>
          </a:prstGeom>
          <a:solidFill>
            <a:srgbClr val="4853EE"/>
          </a:solidFill>
          <a:ln>
            <a:solidFill>
              <a:srgbClr val="485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4360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92253"/>
                </a:solidFill>
                <a:latin typeface="Aptos"/>
              </a:rPr>
              <a:t>EPE | UPC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25880"/>
            <a:ext cx="8138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92253"/>
                </a:solidFill>
                <a:latin typeface="Aptos"/>
              </a:rPr>
              <a:t>RESULTADOS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80" y="5897880"/>
            <a:ext cx="1005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40280"/>
            <a:ext cx="6949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2000">
                <a:solidFill>
                  <a:srgbClr val="1F2755"/>
                </a:solidFill>
                <a:latin typeface="Aptos"/>
              </a:defRPr>
            </a:pPr>
            <a:r>
              <a:t>• Técnico con 3 horas extra y sueldo de S/15.50 por hora: pago de S/59.68.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2000">
                <a:solidFill>
                  <a:srgbClr val="1F2755"/>
                </a:solidFill>
                <a:latin typeface="Aptos"/>
              </a:defRPr>
            </a:pPr>
            <a:r>
              <a:t>• El sistema calcula automáticamente y aplica redondeo monetario.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2000">
                <a:solidFill>
                  <a:srgbClr val="1F2755"/>
                </a:solidFill>
                <a:latin typeface="Aptos"/>
              </a:defRPr>
            </a:pPr>
            <a:r>
              <a:t>• El reporte final muestra cada pago y el total formateado a dos decimales.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2011680"/>
            <a:ext cx="1234440" cy="3200400"/>
          </a:xfrm>
          <a:prstGeom prst="roundRect">
            <a:avLst/>
          </a:prstGeom>
          <a:solidFill>
            <a:srgbClr val="181B26"/>
          </a:solidFill>
          <a:ln>
            <a:solidFill>
              <a:srgbClr val="181B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9872" y="2743200"/>
            <a:ext cx="10058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25AB7D"/>
                </a:solidFill>
                <a:latin typeface="Aptos"/>
              </a:rPr>
              <a:t>S/
59.68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3F9"/>
          </a:solidFill>
          <a:ln>
            <a:solidFill>
              <a:srgbClr val="F2F3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738360" y="0"/>
            <a:ext cx="2453335" cy="6858000"/>
          </a:xfrm>
          <a:prstGeom prst="rect">
            <a:avLst/>
          </a:prstGeom>
          <a:solidFill>
            <a:srgbClr val="192253"/>
          </a:solidFill>
          <a:ln>
            <a:solidFill>
              <a:srgbClr val="192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464040" y="0"/>
            <a:ext cx="274320" cy="6858000"/>
          </a:xfrm>
          <a:prstGeom prst="rect">
            <a:avLst/>
          </a:prstGeom>
          <a:solidFill>
            <a:srgbClr val="4853EE"/>
          </a:solidFill>
          <a:ln>
            <a:solidFill>
              <a:srgbClr val="485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0" cy="201168"/>
          </a:xfrm>
          <a:prstGeom prst="rect">
            <a:avLst/>
          </a:prstGeom>
          <a:solidFill>
            <a:srgbClr val="4853EE"/>
          </a:solidFill>
          <a:ln>
            <a:solidFill>
              <a:srgbClr val="485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01168"/>
            <a:ext cx="731520" cy="164592"/>
          </a:xfrm>
          <a:prstGeom prst="rect">
            <a:avLst/>
          </a:prstGeom>
          <a:solidFill>
            <a:srgbClr val="323CAA"/>
          </a:solidFill>
          <a:ln>
            <a:solidFill>
              <a:srgbClr val="323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914400" cy="347472"/>
          </a:xfrm>
          <a:prstGeom prst="rect">
            <a:avLst/>
          </a:prstGeom>
          <a:solidFill>
            <a:srgbClr val="4853EE"/>
          </a:solidFill>
          <a:ln>
            <a:solidFill>
              <a:srgbClr val="485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94360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92253"/>
                </a:solidFill>
                <a:latin typeface="Aptos"/>
              </a:rPr>
              <a:t>EPE | UPC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25880"/>
            <a:ext cx="8138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92253"/>
                </a:solidFill>
                <a:latin typeface="Aptos"/>
              </a:rPr>
              <a:t>CONCLUSIONES Y RECOMENDACIONES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80" y="5897880"/>
            <a:ext cx="1005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05740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4853EE"/>
                </a:solidFill>
                <a:latin typeface="Aptos"/>
              </a:rPr>
              <a:t>Conclusiones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514600"/>
            <a:ext cx="7955279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800">
                <a:solidFill>
                  <a:srgbClr val="1F2755"/>
                </a:solidFill>
                <a:latin typeface="Aptos"/>
              </a:defRPr>
            </a:pPr>
            <a:r>
              <a:t>• Se automatizó el cálculo del recargo escalonado, reduciendo errores manuales.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800">
                <a:solidFill>
                  <a:srgbClr val="1F2755"/>
                </a:solidFill>
                <a:latin typeface="Aptos"/>
              </a:defRPr>
            </a:pPr>
            <a:r>
              <a:t>• Los arreglos permiten procesar varios técnicos sin reescribir el código.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06908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4853EE"/>
                </a:solidFill>
                <a:latin typeface="Aptos"/>
              </a:rPr>
              <a:t>Recomendaciones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480560"/>
            <a:ext cx="795527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defRPr sz="1800">
                <a:solidFill>
                  <a:srgbClr val="1F2755"/>
                </a:solidFill>
                <a:latin typeface="Aptos"/>
              </a:defRPr>
            </a:pPr>
            <a:r>
              <a:t>• Exportar el reporte a Excel o PDF.</a:t>
            </a:r>
          </a:p>
          <a:p>
            <a:pPr>
              <a:lnSpc>
                <a:spcPct val="105000"/>
              </a:lnSpc>
              <a:spcAft>
                <a:spcPts val="800"/>
              </a:spcAft>
              <a:defRPr sz="1800">
                <a:solidFill>
                  <a:srgbClr val="1F2755"/>
                </a:solidFill>
                <a:latin typeface="Aptos"/>
              </a:defRPr>
            </a:pPr>
            <a:r>
              <a:t>• Conectar el programa a una base de datos para conservar el historial de pagos.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253"/>
          </a:solidFill>
          <a:ln>
            <a:solidFill>
              <a:srgbClr val="1922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0" cy="6858000"/>
          </a:xfrm>
          <a:prstGeom prst="rect">
            <a:avLst/>
          </a:prstGeom>
          <a:solidFill>
            <a:srgbClr val="323CAA"/>
          </a:solidFill>
          <a:ln>
            <a:solidFill>
              <a:srgbClr val="323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377440" y="0"/>
            <a:ext cx="320040" cy="6858000"/>
          </a:xfrm>
          <a:prstGeom prst="rect">
            <a:avLst/>
          </a:prstGeom>
          <a:solidFill>
            <a:srgbClr val="4853EE"/>
          </a:solidFill>
          <a:ln>
            <a:solidFill>
              <a:srgbClr val="485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0" y="1325880"/>
            <a:ext cx="6217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ptos"/>
              </a:rPr>
              <a:t>GRACIAS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148840"/>
            <a:ext cx="6217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0">
                <a:solidFill>
                  <a:srgbClr val="DCE1FF"/>
                </a:solidFill>
                <a:latin typeface="Aptos"/>
              </a:rPr>
              <a:t>Grupo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3063240"/>
            <a:ext cx="6035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Aptos"/>
              </a:rPr>
              <a:t>Christian Anthony Pozo Mejía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3566160"/>
            <a:ext cx="6035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Aptos"/>
              </a:rPr>
              <a:t>Piero Alexander Linares Martínez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4069080"/>
            <a:ext cx="6035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Aptos"/>
              </a:rPr>
              <a:t>David Laura Gonzales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5212080"/>
            <a:ext cx="6766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DCE1FF"/>
                </a:solidFill>
                <a:latin typeface="Aptos"/>
              </a:rPr>
              <a:t>LIQUIDADOR DE HORAS EXTRAS AUTOMATIZADO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